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Roboto"/>
      <p:regular r:id="rId26"/>
      <p:bold r:id="rId27"/>
      <p:italic r:id="rId28"/>
      <p:boldItalic r:id="rId29"/>
    </p:embeddedFont>
    <p:embeddedFont>
      <p:font typeface="Average"/>
      <p:regular r:id="rId30"/>
    </p:embeddedFont>
    <p:embeddedFont>
      <p:font typeface="Oswald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A995B975-5AE6-410C-BE25-F48025D053EB}">
  <a:tblStyle styleId="{A995B975-5AE6-410C-BE25-F48025D053E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regular.fntdata"/><Relationship Id="rId25" Type="http://schemas.openxmlformats.org/officeDocument/2006/relationships/slide" Target="slides/slide20.xml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swald-regular.fntdata"/><Relationship Id="rId30" Type="http://schemas.openxmlformats.org/officeDocument/2006/relationships/font" Target="fonts/Average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Oswald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d9c45342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d9c45342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0e0b7d4ad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0e0b7d4ad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d91e1f37e_1_10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d91e1f37e_1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0e0b7d4ad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0e0b7d4ad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d91e1f37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d91e1f37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e9090756a_1_7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e9090756a_1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0eb62e602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0eb62e60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e9090756a_1_23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e9090756a_1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e9090756a_1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e9090756a_1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0eb62e602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0eb62e602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0eb7fbfc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0eb7fbfc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ce73722c1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ce73722c1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0eb7fbfc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0eb7fbfc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ce73722c1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1ce73722c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1ce73722c1_0_2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1ce73722c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d5b09a965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d5b09a965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ce73722c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1ce73722c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1ce73722c1_0_3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1ce73722c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ce26d1ef6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1ce26d1ef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d0d5707a6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1d0d5707a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2600">
        <p:fade thruBlk="1"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hyperlink" Target="http://git-scm.com/download/win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Relationship Id="rId4" Type="http://schemas.openxmlformats.org/officeDocument/2006/relationships/hyperlink" Target="mailto:example@gmail.com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geshan.com.np/blog/2014/12/do-you-git-your-code-follow-this-simplified-gitflow-model/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Git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Version control of your application</a:t>
            </a:r>
            <a:endParaRPr/>
          </a:p>
        </p:txBody>
      </p:sp>
      <p:sp>
        <p:nvSpPr>
          <p:cNvPr id="61" name="Google Shape;61;p1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‹#›</a:t>
            </a:fld>
            <a:endParaRPr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490250" y="526350"/>
            <a:ext cx="6842100" cy="219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3F3F3"/>
                </a:solidFill>
              </a:rPr>
              <a:t>Who am I ?</a:t>
            </a:r>
            <a:endParaRPr>
              <a:solidFill>
                <a:srgbClr val="F3F3F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3F3F3"/>
                </a:solidFill>
              </a:rPr>
              <a:t>Bijaya Pandey</a:t>
            </a:r>
            <a:endParaRPr b="1">
              <a:solidFill>
                <a:srgbClr val="F3F3F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3F3F3"/>
                </a:solidFill>
              </a:rPr>
              <a:t>www.bijayapandey.com.np</a:t>
            </a:r>
            <a:endParaRPr sz="3000">
              <a:solidFill>
                <a:srgbClr val="F3F3F3"/>
              </a:solidFill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570200" y="3848700"/>
            <a:ext cx="69966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2"/>
              </a:solidFill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629575" y="2494550"/>
            <a:ext cx="5428500" cy="5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69" name="Google Shape;69;p1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‹#›</a:t>
            </a:fld>
            <a:endParaRPr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152475"/>
            <a:ext cx="8344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What is git 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Why do we need git 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Installation and setup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Basic workflow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Branching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Rebasing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Squashing multiple commits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Handling Merge conflict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Simplified git workflow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How to use git with Github, Bitbucket, Gitlab some practicals (demo)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  <p:graphicFrame>
        <p:nvGraphicFramePr>
          <p:cNvPr id="76" name="Google Shape;76;p15"/>
          <p:cNvGraphicFramePr/>
          <p:nvPr/>
        </p:nvGraphicFramePr>
        <p:xfrm>
          <a:off x="5071481" y="45522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{A995B975-5AE6-410C-BE25-F48025D053EB}</a:tableStyleId>
              </a:tblPr>
              <a:tblGrid>
                <a:gridCol w="821450"/>
                <a:gridCol w="821450"/>
                <a:gridCol w="821450"/>
                <a:gridCol w="821450"/>
              </a:tblGrid>
              <a:tr h="24165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77" name="Google Shape;77;p15"/>
          <p:cNvCxnSpPr/>
          <p:nvPr/>
        </p:nvCxnSpPr>
        <p:spPr>
          <a:xfrm rot="10800000">
            <a:off x="509400" y="4552050"/>
            <a:ext cx="8147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78" name="Google Shape;78;p1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‹#›</a:t>
            </a:fld>
            <a:endParaRPr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git ?</a:t>
            </a:r>
            <a:endParaRPr/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311700" y="1152475"/>
            <a:ext cx="4520700" cy="12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Char char="●"/>
            </a:pPr>
            <a:r>
              <a:rPr lang="en" sz="1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Distributed version control system.</a:t>
            </a:r>
            <a:endParaRPr sz="18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Char char="●"/>
            </a:pPr>
            <a:r>
              <a:rPr lang="en" sz="1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System that records changes to a file or set of files over time.</a:t>
            </a:r>
            <a:endParaRPr sz="18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swald"/>
              <a:buChar char="●"/>
            </a:pPr>
            <a:r>
              <a:rPr lang="en" sz="1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Used for Software development and other version control tasks.</a:t>
            </a:r>
            <a:endParaRPr sz="18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4E443C"/>
                </a:solidFill>
                <a:highlight>
                  <a:srgbClr val="FCFCFA"/>
                </a:highlight>
                <a:latin typeface="Georgia"/>
                <a:ea typeface="Georgia"/>
                <a:cs typeface="Georgia"/>
                <a:sym typeface="Georgia"/>
              </a:rPr>
              <a:t> </a:t>
            </a:r>
            <a:endParaRPr sz="18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5" name="Google Shape;85;p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git_logo.png" id="86" name="Google Shape;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2938" y="623063"/>
            <a:ext cx="3095625" cy="30956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‹#›</a:t>
            </a:fld>
            <a:endParaRPr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t-why-thumb.jpg" id="92" name="Google Shape;92;p17"/>
          <p:cNvPicPr preferRelativeResize="0"/>
          <p:nvPr/>
        </p:nvPicPr>
        <p:blipFill rotWithShape="1">
          <a:blip r:embed="rId3">
            <a:alphaModFix/>
          </a:blip>
          <a:srcRect b="0" l="16500" r="16507" t="0"/>
          <a:stretch/>
        </p:blipFill>
        <p:spPr>
          <a:xfrm>
            <a:off x="-9150" y="0"/>
            <a:ext cx="4594500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 txBox="1"/>
          <p:nvPr>
            <p:ph type="title"/>
          </p:nvPr>
        </p:nvSpPr>
        <p:spPr>
          <a:xfrm>
            <a:off x="265500" y="1830600"/>
            <a:ext cx="4045200" cy="14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4" name="Google Shape;94;p1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It’s Multi Platform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Branching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It’s Free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It’s Fast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It’s Distributed</a:t>
            </a:r>
            <a:br>
              <a:rPr lang="en" sz="2400"/>
            </a:br>
            <a:endParaRPr sz="2400"/>
          </a:p>
        </p:txBody>
      </p:sp>
      <p:sp>
        <p:nvSpPr>
          <p:cNvPr id="95" name="Google Shape;95;p1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‹#›</a:t>
            </a:fld>
            <a:endParaRPr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/>
          <p:nvPr/>
        </p:nvSpPr>
        <p:spPr>
          <a:xfrm>
            <a:off x="0" y="0"/>
            <a:ext cx="9161100" cy="2484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8"/>
          <p:cNvSpPr txBox="1"/>
          <p:nvPr>
            <p:ph idx="4294967295" type="title"/>
          </p:nvPr>
        </p:nvSpPr>
        <p:spPr>
          <a:xfrm>
            <a:off x="311700" y="220100"/>
            <a:ext cx="8520600" cy="7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              </a:t>
            </a:r>
            <a:r>
              <a:rPr lang="en">
                <a:solidFill>
                  <a:schemeClr val="lt1"/>
                </a:solidFill>
              </a:rPr>
              <a:t>Installation</a:t>
            </a:r>
            <a:r>
              <a:rPr lang="en"/>
              <a:t>The team</a:t>
            </a:r>
            <a:endParaRPr/>
          </a:p>
          <a:p>
            <a:pPr indent="0" lvl="0" marL="0" rtl="0" algn="ctr">
              <a:spcBef>
                <a:spcPts val="400"/>
              </a:spcBef>
              <a:spcAft>
                <a:spcPts val="400"/>
              </a:spcAft>
              <a:buNone/>
            </a:pPr>
            <a:r>
              <a:rPr i="1" lang="en" sz="1600"/>
              <a:t>Answer the question, “Why are we the ones to solve the problem we identified?”</a:t>
            </a:r>
            <a:endParaRPr i="1" sz="1600"/>
          </a:p>
        </p:txBody>
      </p:sp>
      <p:pic>
        <p:nvPicPr>
          <p:cNvPr descr="eyecatch-windows10.jpg" id="102" name="Google Shape;102;p18"/>
          <p:cNvPicPr preferRelativeResize="0"/>
          <p:nvPr/>
        </p:nvPicPr>
        <p:blipFill rotWithShape="1">
          <a:blip r:embed="rId3">
            <a:alphaModFix/>
          </a:blip>
          <a:srcRect b="0" l="21875" r="21875" t="0"/>
          <a:stretch/>
        </p:blipFill>
        <p:spPr>
          <a:xfrm>
            <a:off x="2145345" y="1363020"/>
            <a:ext cx="1644300" cy="1644300"/>
          </a:xfrm>
          <a:prstGeom prst="ellipse">
            <a:avLst/>
          </a:prstGeom>
          <a:noFill/>
          <a:ln>
            <a:noFill/>
          </a:ln>
        </p:spPr>
      </p:pic>
      <p:pic>
        <p:nvPicPr>
          <p:cNvPr descr="ubuntuhero.jpg" id="103" name="Google Shape;103;p18"/>
          <p:cNvPicPr preferRelativeResize="0"/>
          <p:nvPr/>
        </p:nvPicPr>
        <p:blipFill rotWithShape="1">
          <a:blip r:embed="rId4">
            <a:alphaModFix/>
          </a:blip>
          <a:srcRect b="0" l="10883" r="10875" t="0"/>
          <a:stretch/>
        </p:blipFill>
        <p:spPr>
          <a:xfrm>
            <a:off x="5728935" y="1363170"/>
            <a:ext cx="1644300" cy="1644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04" name="Google Shape;104;p18"/>
          <p:cNvSpPr txBox="1"/>
          <p:nvPr>
            <p:ph idx="4294967295" type="title"/>
          </p:nvPr>
        </p:nvSpPr>
        <p:spPr>
          <a:xfrm>
            <a:off x="1638150" y="3047800"/>
            <a:ext cx="2583600" cy="57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W</a:t>
            </a:r>
            <a:r>
              <a:rPr lang="en" sz="1800"/>
              <a:t>indows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05" name="Google Shape;105;p18"/>
          <p:cNvSpPr txBox="1"/>
          <p:nvPr>
            <p:ph idx="4294967295" type="body"/>
          </p:nvPr>
        </p:nvSpPr>
        <p:spPr>
          <a:xfrm>
            <a:off x="1638150" y="3666975"/>
            <a:ext cx="2583600" cy="1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Go to the link </a:t>
            </a:r>
            <a:r>
              <a:rPr lang="en" sz="1200" u="sng">
                <a:solidFill>
                  <a:schemeClr val="hlink"/>
                </a:solidFill>
                <a:hlinkClick r:id="rId5"/>
              </a:rPr>
              <a:t>http://git-scm.com/download/win</a:t>
            </a:r>
            <a:br>
              <a:rPr lang="en" sz="1200">
                <a:solidFill>
                  <a:schemeClr val="dk2"/>
                </a:solidFill>
              </a:rPr>
            </a:br>
            <a:br>
              <a:rPr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Download git and install 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06" name="Google Shape;106;p18"/>
          <p:cNvSpPr txBox="1"/>
          <p:nvPr>
            <p:ph idx="4294967295" type="title"/>
          </p:nvPr>
        </p:nvSpPr>
        <p:spPr>
          <a:xfrm>
            <a:off x="5226200" y="3047800"/>
            <a:ext cx="2703300" cy="57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Ubuntu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07" name="Google Shape;107;p18"/>
          <p:cNvSpPr txBox="1"/>
          <p:nvPr>
            <p:ph idx="4294967295" type="title"/>
          </p:nvPr>
        </p:nvSpPr>
        <p:spPr>
          <a:xfrm>
            <a:off x="7338754" y="4416300"/>
            <a:ext cx="898800" cy="57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08" name="Google Shape;108;p18"/>
          <p:cNvSpPr txBox="1"/>
          <p:nvPr>
            <p:ph idx="4294967295" type="body"/>
          </p:nvPr>
        </p:nvSpPr>
        <p:spPr>
          <a:xfrm>
            <a:off x="5105850" y="3572425"/>
            <a:ext cx="31317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Sudo apt-get install git-all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09" name="Google Shape;109;p18"/>
          <p:cNvSpPr txBox="1"/>
          <p:nvPr>
            <p:ph idx="4294967295" type="body"/>
          </p:nvPr>
        </p:nvSpPr>
        <p:spPr>
          <a:xfrm flipH="1">
            <a:off x="6496450" y="4416300"/>
            <a:ext cx="270000" cy="78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10" name="Google Shape;110;p18"/>
          <p:cNvSpPr txBox="1"/>
          <p:nvPr>
            <p:ph idx="4294967295" type="title"/>
          </p:nvPr>
        </p:nvSpPr>
        <p:spPr>
          <a:xfrm>
            <a:off x="6925765" y="4517394"/>
            <a:ext cx="2022300" cy="57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11" name="Google Shape;111;p1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‹#›</a:t>
            </a:fld>
            <a:endParaRPr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ETUP_logo_black_sml.jpg" id="116" name="Google Shape;116;p19"/>
          <p:cNvPicPr preferRelativeResize="0"/>
          <p:nvPr/>
        </p:nvPicPr>
        <p:blipFill rotWithShape="1">
          <a:blip r:embed="rId3">
            <a:alphaModFix/>
          </a:blip>
          <a:srcRect b="7685" l="0" r="0" t="7676"/>
          <a:stretch/>
        </p:blipFill>
        <p:spPr>
          <a:xfrm>
            <a:off x="-9150" y="0"/>
            <a:ext cx="45945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9"/>
          <p:cNvSpPr txBox="1"/>
          <p:nvPr>
            <p:ph type="title"/>
          </p:nvPr>
        </p:nvSpPr>
        <p:spPr>
          <a:xfrm>
            <a:off x="265500" y="1830600"/>
            <a:ext cx="4045200" cy="14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8" name="Google Shape;118;p19"/>
          <p:cNvSpPr txBox="1"/>
          <p:nvPr>
            <p:ph idx="2" type="body"/>
          </p:nvPr>
        </p:nvSpPr>
        <p:spPr>
          <a:xfrm>
            <a:off x="4739175" y="724200"/>
            <a:ext cx="45945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Configure your name and email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$ git config --global  user.name “Your Name”</a:t>
            </a:r>
            <a:br>
              <a:rPr lang="en" sz="1400"/>
            </a:br>
            <a:r>
              <a:rPr lang="en" sz="1400"/>
              <a:t>$ git config --global user.email “</a:t>
            </a:r>
            <a:r>
              <a:rPr lang="en" sz="1400" u="sng">
                <a:solidFill>
                  <a:schemeClr val="hlink"/>
                </a:solidFill>
                <a:hlinkClick r:id="rId4"/>
              </a:rPr>
              <a:t>example@gmail.com</a:t>
            </a:r>
            <a:r>
              <a:rPr lang="en" sz="1400"/>
              <a:t>”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Checking Your Setting</a:t>
            </a:r>
            <a:br>
              <a:rPr lang="en" sz="1400"/>
            </a:br>
            <a:r>
              <a:rPr lang="en" sz="1400"/>
              <a:t>$ git config --list</a:t>
            </a:r>
            <a:endParaRPr sz="1400"/>
          </a:p>
        </p:txBody>
      </p:sp>
      <p:sp>
        <p:nvSpPr>
          <p:cNvPr id="119" name="Google Shape;119;p1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‹#›</a:t>
            </a:fld>
            <a:endParaRPr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git Workflow</a:t>
            </a:r>
            <a:r>
              <a:rPr i="1" lang="en" sz="1400"/>
              <a:t> </a:t>
            </a:r>
            <a:endParaRPr i="1" sz="1400"/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rPr i="1" lang="en" sz="1600"/>
              <a:t>When you start git first time</a:t>
            </a:r>
            <a:endParaRPr i="1" sz="1600"/>
          </a:p>
        </p:txBody>
      </p:sp>
      <p:cxnSp>
        <p:nvCxnSpPr>
          <p:cNvPr id="125" name="Google Shape;125;p20"/>
          <p:cNvCxnSpPr/>
          <p:nvPr/>
        </p:nvCxnSpPr>
        <p:spPr>
          <a:xfrm rot="10800000">
            <a:off x="680050" y="2152465"/>
            <a:ext cx="0" cy="83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26" name="Google Shape;126;p20"/>
          <p:cNvSpPr txBox="1"/>
          <p:nvPr>
            <p:ph type="title"/>
          </p:nvPr>
        </p:nvSpPr>
        <p:spPr>
          <a:xfrm>
            <a:off x="727112" y="1995899"/>
            <a:ext cx="1814100" cy="39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Create Directory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27" name="Google Shape;127;p20"/>
          <p:cNvSpPr txBox="1"/>
          <p:nvPr>
            <p:ph idx="1" type="body"/>
          </p:nvPr>
        </p:nvSpPr>
        <p:spPr>
          <a:xfrm>
            <a:off x="727112" y="2285925"/>
            <a:ext cx="18141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Add some file for your the application feature.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128" name="Google Shape;128;p20"/>
          <p:cNvCxnSpPr/>
          <p:nvPr/>
        </p:nvCxnSpPr>
        <p:spPr>
          <a:xfrm>
            <a:off x="1733150" y="3375004"/>
            <a:ext cx="0" cy="83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29" name="Google Shape;129;p20"/>
          <p:cNvSpPr txBox="1"/>
          <p:nvPr>
            <p:ph type="title"/>
          </p:nvPr>
        </p:nvSpPr>
        <p:spPr>
          <a:xfrm>
            <a:off x="1887987" y="3970916"/>
            <a:ext cx="1814100" cy="39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Make commit 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30" name="Google Shape;130;p20"/>
          <p:cNvSpPr txBox="1"/>
          <p:nvPr>
            <p:ph idx="1" type="body"/>
          </p:nvPr>
        </p:nvSpPr>
        <p:spPr>
          <a:xfrm>
            <a:off x="1887973" y="4264225"/>
            <a:ext cx="21366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Using command </a:t>
            </a:r>
            <a:br>
              <a:rPr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$git commit -m “first commit”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131" name="Google Shape;131;p20"/>
          <p:cNvCxnSpPr/>
          <p:nvPr/>
        </p:nvCxnSpPr>
        <p:spPr>
          <a:xfrm rot="10800000">
            <a:off x="4232825" y="2145365"/>
            <a:ext cx="0" cy="83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32" name="Google Shape;132;p20"/>
          <p:cNvSpPr txBox="1"/>
          <p:nvPr>
            <p:ph type="title"/>
          </p:nvPr>
        </p:nvSpPr>
        <p:spPr>
          <a:xfrm>
            <a:off x="4279887" y="1995911"/>
            <a:ext cx="1814100" cy="39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Add git repository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33" name="Google Shape;133;p20"/>
          <p:cNvSpPr txBox="1"/>
          <p:nvPr>
            <p:ph idx="1" type="body"/>
          </p:nvPr>
        </p:nvSpPr>
        <p:spPr>
          <a:xfrm>
            <a:off x="4279875" y="2285919"/>
            <a:ext cx="1814100" cy="8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Go up to your project directory and use command</a:t>
            </a:r>
            <a:br>
              <a:rPr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$git init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134" name="Google Shape;134;p20"/>
          <p:cNvCxnSpPr/>
          <p:nvPr/>
        </p:nvCxnSpPr>
        <p:spPr>
          <a:xfrm>
            <a:off x="4957475" y="3375021"/>
            <a:ext cx="0" cy="83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35" name="Google Shape;135;p20"/>
          <p:cNvSpPr txBox="1"/>
          <p:nvPr>
            <p:ph type="title"/>
          </p:nvPr>
        </p:nvSpPr>
        <p:spPr>
          <a:xfrm>
            <a:off x="5004517" y="3970925"/>
            <a:ext cx="3059100" cy="39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Remote add and Push commit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36" name="Google Shape;136;p20"/>
          <p:cNvSpPr txBox="1"/>
          <p:nvPr>
            <p:ph idx="1" type="body"/>
          </p:nvPr>
        </p:nvSpPr>
        <p:spPr>
          <a:xfrm>
            <a:off x="5004512" y="4260950"/>
            <a:ext cx="37026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$ git remote add origin https://github.com/madhusudhan1234/finalproject.git  </a:t>
            </a:r>
            <a:br>
              <a:rPr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$ git push origin master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137" name="Google Shape;137;p20"/>
          <p:cNvCxnSpPr/>
          <p:nvPr/>
        </p:nvCxnSpPr>
        <p:spPr>
          <a:xfrm rot="10800000">
            <a:off x="7080781" y="2145365"/>
            <a:ext cx="0" cy="83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38" name="Google Shape;138;p20"/>
          <p:cNvSpPr txBox="1"/>
          <p:nvPr>
            <p:ph type="title"/>
          </p:nvPr>
        </p:nvSpPr>
        <p:spPr>
          <a:xfrm>
            <a:off x="7127837" y="1995911"/>
            <a:ext cx="1814100" cy="39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Add files to git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39" name="Google Shape;139;p20"/>
          <p:cNvSpPr txBox="1"/>
          <p:nvPr>
            <p:ph idx="1" type="body"/>
          </p:nvPr>
        </p:nvSpPr>
        <p:spPr>
          <a:xfrm>
            <a:off x="7127837" y="2285937"/>
            <a:ext cx="18141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$ git add index.html    or</a:t>
            </a:r>
            <a:br>
              <a:rPr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$ git add . 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40" name="Google Shape;140;p2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‹#›</a:t>
            </a:fld>
            <a:endParaRPr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41" name="Google Shape;141;p20"/>
          <p:cNvSpPr txBox="1"/>
          <p:nvPr/>
        </p:nvSpPr>
        <p:spPr>
          <a:xfrm>
            <a:off x="1125150" y="1647525"/>
            <a:ext cx="388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AFAFA"/>
                </a:solidFill>
              </a:rPr>
              <a:t>1</a:t>
            </a:r>
            <a:endParaRPr sz="1800">
              <a:solidFill>
                <a:srgbClr val="FAFAFA"/>
              </a:solidFill>
            </a:endParaRPr>
          </a:p>
        </p:txBody>
      </p:sp>
      <p:sp>
        <p:nvSpPr>
          <p:cNvPr id="142" name="Google Shape;142;p20"/>
          <p:cNvSpPr txBox="1"/>
          <p:nvPr/>
        </p:nvSpPr>
        <p:spPr>
          <a:xfrm>
            <a:off x="4297650" y="164752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AFAFA"/>
                </a:solidFill>
              </a:rPr>
              <a:t>2</a:t>
            </a:r>
            <a:endParaRPr/>
          </a:p>
        </p:txBody>
      </p:sp>
      <p:sp>
        <p:nvSpPr>
          <p:cNvPr id="143" name="Google Shape;143;p20"/>
          <p:cNvSpPr txBox="1"/>
          <p:nvPr/>
        </p:nvSpPr>
        <p:spPr>
          <a:xfrm>
            <a:off x="7127825" y="1518900"/>
            <a:ext cx="4803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AFAFA"/>
                </a:solidFill>
              </a:rPr>
              <a:t>3</a:t>
            </a:r>
            <a:endParaRPr/>
          </a:p>
        </p:txBody>
      </p:sp>
      <p:sp>
        <p:nvSpPr>
          <p:cNvPr id="144" name="Google Shape;144;p20"/>
          <p:cNvSpPr txBox="1"/>
          <p:nvPr/>
        </p:nvSpPr>
        <p:spPr>
          <a:xfrm>
            <a:off x="1992500" y="336762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AFAFA"/>
                </a:solidFill>
              </a:rPr>
              <a:t>4</a:t>
            </a:r>
            <a:endParaRPr/>
          </a:p>
        </p:txBody>
      </p:sp>
      <p:sp>
        <p:nvSpPr>
          <p:cNvPr id="145" name="Google Shape;145;p20"/>
          <p:cNvSpPr txBox="1"/>
          <p:nvPr/>
        </p:nvSpPr>
        <p:spPr>
          <a:xfrm>
            <a:off x="5341150" y="3378325"/>
            <a:ext cx="8874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AFAFA"/>
                </a:solidFill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1"/>
          <p:cNvSpPr txBox="1"/>
          <p:nvPr>
            <p:ph type="title"/>
          </p:nvPr>
        </p:nvSpPr>
        <p:spPr>
          <a:xfrm>
            <a:off x="460950" y="2065350"/>
            <a:ext cx="36873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 Branching</a:t>
            </a:r>
            <a:endParaRPr/>
          </a:p>
        </p:txBody>
      </p:sp>
      <p:sp>
        <p:nvSpPr>
          <p:cNvPr id="151" name="Google Shape;151;p21"/>
          <p:cNvSpPr txBox="1"/>
          <p:nvPr/>
        </p:nvSpPr>
        <p:spPr>
          <a:xfrm>
            <a:off x="4563150" y="572850"/>
            <a:ext cx="4119900" cy="39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If you are working in new feature, create new branch.</a:t>
            </a:r>
            <a:endParaRPr b="1" i="1" sz="1800">
              <a:solidFill>
                <a:srgbClr val="FAFAF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To make new Branch enter command </a:t>
            </a:r>
            <a:br>
              <a:rPr b="1" i="1" lang="en" sz="1800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1" lang="en" sz="1800">
                <a:solidFill>
                  <a:srgbClr val="FFD966"/>
                </a:solidFill>
                <a:latin typeface="Roboto"/>
                <a:ea typeface="Roboto"/>
                <a:cs typeface="Roboto"/>
                <a:sym typeface="Roboto"/>
              </a:rPr>
              <a:t>$ git checkout -b branch-name</a:t>
            </a:r>
            <a:endParaRPr b="1" i="1" sz="1800">
              <a:solidFill>
                <a:srgbClr val="FFD9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For example :</a:t>
            </a:r>
            <a:endParaRPr b="1" i="1" sz="1800">
              <a:solidFill>
                <a:srgbClr val="FAFAF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rgbClr val="FFD966"/>
                </a:solidFill>
                <a:latin typeface="Roboto"/>
                <a:ea typeface="Roboto"/>
                <a:cs typeface="Roboto"/>
                <a:sym typeface="Roboto"/>
              </a:rPr>
              <a:t>$ git checkout -b ES-12</a:t>
            </a:r>
            <a:endParaRPr b="1" i="1" sz="1800">
              <a:solidFill>
                <a:srgbClr val="FFD9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Complete feature, add files to git , make commit push branch</a:t>
            </a:r>
            <a:br>
              <a:rPr b="1" i="1" lang="en" sz="1800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1" lang="en" sz="1800">
                <a:solidFill>
                  <a:srgbClr val="FFD966"/>
                </a:solidFill>
                <a:latin typeface="Roboto"/>
                <a:ea typeface="Roboto"/>
                <a:cs typeface="Roboto"/>
                <a:sym typeface="Roboto"/>
              </a:rPr>
              <a:t>$ git push origin ES-12</a:t>
            </a:r>
            <a:endParaRPr b="1" i="1" sz="1800">
              <a:solidFill>
                <a:srgbClr val="FFD9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 i="1" sz="1800">
              <a:solidFill>
                <a:srgbClr val="FFD9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2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‹#›</a:t>
            </a:fld>
            <a:endParaRPr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2"/>
          <p:cNvSpPr txBox="1"/>
          <p:nvPr>
            <p:ph type="title"/>
          </p:nvPr>
        </p:nvSpPr>
        <p:spPr>
          <a:xfrm>
            <a:off x="460950" y="2065350"/>
            <a:ext cx="36873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 Branching..</a:t>
            </a:r>
            <a:endParaRPr/>
          </a:p>
        </p:txBody>
      </p:sp>
      <p:sp>
        <p:nvSpPr>
          <p:cNvPr id="158" name="Google Shape;158;p22"/>
          <p:cNvSpPr txBox="1"/>
          <p:nvPr/>
        </p:nvSpPr>
        <p:spPr>
          <a:xfrm>
            <a:off x="4563150" y="572850"/>
            <a:ext cx="4119900" cy="39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Checkout to base branch: for e.g.</a:t>
            </a:r>
            <a:br>
              <a:rPr b="1" i="1" lang="en" sz="1800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1" lang="en" sz="1800">
                <a:solidFill>
                  <a:srgbClr val="FFD966"/>
                </a:solidFill>
                <a:latin typeface="Roboto"/>
                <a:ea typeface="Roboto"/>
                <a:cs typeface="Roboto"/>
                <a:sym typeface="Roboto"/>
              </a:rPr>
              <a:t>$ git checkout master</a:t>
            </a:r>
            <a:endParaRPr b="1" i="1" sz="1800">
              <a:solidFill>
                <a:srgbClr val="FFD9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Merge branch with base branch</a:t>
            </a:r>
            <a:br>
              <a:rPr b="1" i="1" lang="en" sz="1800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1" lang="en" sz="1800">
                <a:solidFill>
                  <a:srgbClr val="FFD966"/>
                </a:solidFill>
                <a:latin typeface="Roboto"/>
                <a:ea typeface="Roboto"/>
                <a:cs typeface="Roboto"/>
                <a:sym typeface="Roboto"/>
              </a:rPr>
              <a:t>$ git merge --no-ff  ES-12</a:t>
            </a:r>
            <a:endParaRPr b="1" i="1" sz="1800">
              <a:solidFill>
                <a:srgbClr val="FFD9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Now push to master </a:t>
            </a:r>
            <a:br>
              <a:rPr b="1" i="1" lang="en" sz="1800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1" lang="en" sz="1800">
                <a:solidFill>
                  <a:srgbClr val="FFD966"/>
                </a:solidFill>
                <a:latin typeface="Roboto"/>
                <a:ea typeface="Roboto"/>
                <a:cs typeface="Roboto"/>
                <a:sym typeface="Roboto"/>
              </a:rPr>
              <a:t>$ git push origin master </a:t>
            </a:r>
            <a:endParaRPr b="1" i="1" sz="1800">
              <a:solidFill>
                <a:srgbClr val="FFD9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i="1" lang="en" sz="1800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One feature is merged with master .. Are you happy ?</a:t>
            </a:r>
            <a:endParaRPr b="1" i="1" sz="1800">
              <a:solidFill>
                <a:srgbClr val="FFD9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2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‹#›</a:t>
            </a:fld>
            <a:endParaRPr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 txBox="1"/>
          <p:nvPr>
            <p:ph type="title"/>
          </p:nvPr>
        </p:nvSpPr>
        <p:spPr>
          <a:xfrm>
            <a:off x="460950" y="2065350"/>
            <a:ext cx="36873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Rebasing </a:t>
            </a:r>
            <a:endParaRPr/>
          </a:p>
        </p:txBody>
      </p:sp>
      <p:sp>
        <p:nvSpPr>
          <p:cNvPr id="165" name="Google Shape;165;p23"/>
          <p:cNvSpPr txBox="1"/>
          <p:nvPr/>
        </p:nvSpPr>
        <p:spPr>
          <a:xfrm>
            <a:off x="3848725" y="572850"/>
            <a:ext cx="5001000" cy="39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After merge the branch to base branch by other team member we should rebase to our base branch </a:t>
            </a:r>
            <a:endParaRPr b="1" i="1" sz="1800">
              <a:solidFill>
                <a:srgbClr val="FAFAF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$ git fetch &amp;&amp; git pull --rebase origin master</a:t>
            </a:r>
            <a:endParaRPr b="1" i="1" sz="1800">
              <a:solidFill>
                <a:srgbClr val="FAFAF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Go to your feature branch </a:t>
            </a:r>
            <a:br>
              <a:rPr b="1" i="1" lang="en" sz="1800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1" lang="en" sz="1800">
                <a:solidFill>
                  <a:srgbClr val="FFD966"/>
                </a:solidFill>
                <a:latin typeface="Roboto"/>
                <a:ea typeface="Roboto"/>
                <a:cs typeface="Roboto"/>
                <a:sym typeface="Roboto"/>
              </a:rPr>
              <a:t>$ git checkout ES-12</a:t>
            </a:r>
            <a:endParaRPr b="1" i="1" sz="1800">
              <a:solidFill>
                <a:srgbClr val="FFD9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Let’s do the rebase work </a:t>
            </a:r>
            <a:br>
              <a:rPr b="1" i="1" lang="en" sz="1800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1"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$ git rebase master </a:t>
            </a:r>
            <a:endParaRPr b="1" i="1" sz="1800">
              <a:solidFill>
                <a:srgbClr val="FFD9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 i="1" sz="1800">
              <a:solidFill>
                <a:srgbClr val="FFD9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2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‹#›</a:t>
            </a:fld>
            <a:endParaRPr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 txBox="1"/>
          <p:nvPr>
            <p:ph type="title"/>
          </p:nvPr>
        </p:nvSpPr>
        <p:spPr>
          <a:xfrm>
            <a:off x="460950" y="2065350"/>
            <a:ext cx="36873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Squashing Multiple Commits</a:t>
            </a:r>
            <a:endParaRPr/>
          </a:p>
        </p:txBody>
      </p:sp>
      <p:sp>
        <p:nvSpPr>
          <p:cNvPr id="172" name="Google Shape;172;p24"/>
          <p:cNvSpPr txBox="1"/>
          <p:nvPr/>
        </p:nvSpPr>
        <p:spPr>
          <a:xfrm>
            <a:off x="4563150" y="572850"/>
            <a:ext cx="4119900" cy="39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To avoid multiple commits in single branch we should squash to single commit. For e.g.</a:t>
            </a:r>
            <a:br>
              <a:rPr b="1" i="1" lang="en" sz="1800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1" lang="en" sz="1800">
                <a:solidFill>
                  <a:srgbClr val="FFD966"/>
                </a:solidFill>
                <a:latin typeface="Roboto"/>
                <a:ea typeface="Roboto"/>
                <a:cs typeface="Roboto"/>
                <a:sym typeface="Roboto"/>
              </a:rPr>
              <a:t>$ git rebase -i HEAD~2</a:t>
            </a:r>
            <a:endParaRPr b="1" i="1" sz="1800">
              <a:solidFill>
                <a:srgbClr val="FAFAF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 i="1" sz="1800">
              <a:solidFill>
                <a:srgbClr val="FFD9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2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‹#›</a:t>
            </a:fld>
            <a:endParaRPr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-five-sytles-of-conflict-resolution.jpg" id="178" name="Google Shape;178;p25"/>
          <p:cNvPicPr preferRelativeResize="0"/>
          <p:nvPr/>
        </p:nvPicPr>
        <p:blipFill rotWithShape="1">
          <a:blip r:embed="rId3">
            <a:alphaModFix/>
          </a:blip>
          <a:srcRect b="0" l="24876" r="24876" t="0"/>
          <a:stretch/>
        </p:blipFill>
        <p:spPr>
          <a:xfrm>
            <a:off x="-9150" y="0"/>
            <a:ext cx="4594501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5"/>
          <p:cNvSpPr txBox="1"/>
          <p:nvPr>
            <p:ph type="title"/>
          </p:nvPr>
        </p:nvSpPr>
        <p:spPr>
          <a:xfrm>
            <a:off x="265500" y="3897500"/>
            <a:ext cx="4045200" cy="109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lt1"/>
              </a:solidFill>
            </a:endParaRPr>
          </a:p>
        </p:txBody>
      </p:sp>
      <p:sp>
        <p:nvSpPr>
          <p:cNvPr id="180" name="Google Shape;180;p25"/>
          <p:cNvSpPr txBox="1"/>
          <p:nvPr>
            <p:ph idx="2" type="body"/>
          </p:nvPr>
        </p:nvSpPr>
        <p:spPr>
          <a:xfrm>
            <a:off x="4739175" y="724200"/>
            <a:ext cx="42999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Q. When it occurs 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/>
              <a:t>Ans:</a:t>
            </a:r>
            <a:r>
              <a:rPr lang="en"/>
              <a:t> During branch </a:t>
            </a:r>
            <a:r>
              <a:rPr lang="en"/>
              <a:t>merge</a:t>
            </a:r>
            <a:r>
              <a:rPr lang="en"/>
              <a:t> to the master        when changes with latest commit from branch to  same file of branch to merge..</a:t>
            </a:r>
            <a:br>
              <a:rPr lang="en"/>
            </a:b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Q. How to solve it 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/>
              <a:t>Ans:</a:t>
            </a:r>
            <a:r>
              <a:rPr lang="en"/>
              <a:t> Put which code is required , remove which code is not required, then add to git commit and push.</a:t>
            </a:r>
            <a:endParaRPr/>
          </a:p>
        </p:txBody>
      </p:sp>
      <p:sp>
        <p:nvSpPr>
          <p:cNvPr id="181" name="Google Shape;181;p2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‹#›</a:t>
            </a:fld>
            <a:endParaRPr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82" name="Google Shape;182;p25"/>
          <p:cNvSpPr/>
          <p:nvPr/>
        </p:nvSpPr>
        <p:spPr>
          <a:xfrm>
            <a:off x="392000" y="4009100"/>
            <a:ext cx="3480600" cy="879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Handling Merge conflict</a:t>
            </a:r>
            <a:endParaRPr sz="3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6"/>
          <p:cNvSpPr txBox="1"/>
          <p:nvPr>
            <p:ph idx="1" type="body"/>
          </p:nvPr>
        </p:nvSpPr>
        <p:spPr>
          <a:xfrm>
            <a:off x="311700" y="1152475"/>
            <a:ext cx="8344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  <p:graphicFrame>
        <p:nvGraphicFramePr>
          <p:cNvPr id="188" name="Google Shape;188;p26"/>
          <p:cNvGraphicFramePr/>
          <p:nvPr/>
        </p:nvGraphicFramePr>
        <p:xfrm>
          <a:off x="5071481" y="45522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{A995B975-5AE6-410C-BE25-F48025D053EB}</a:tableStyleId>
              </a:tblPr>
              <a:tblGrid>
                <a:gridCol w="821450"/>
                <a:gridCol w="821450"/>
                <a:gridCol w="821450"/>
                <a:gridCol w="821450"/>
              </a:tblGrid>
              <a:tr h="24165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9" name="Google Shape;189;p2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‹#›</a:t>
            </a:fld>
            <a:endParaRPr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descr="Selection_022.png" id="190" name="Google Shape;19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9225" y="1833575"/>
            <a:ext cx="6305550" cy="147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6"/>
          <p:cNvSpPr txBox="1"/>
          <p:nvPr/>
        </p:nvSpPr>
        <p:spPr>
          <a:xfrm>
            <a:off x="790275" y="375050"/>
            <a:ext cx="8117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Handling Merge Conflict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7"/>
          <p:cNvSpPr txBox="1"/>
          <p:nvPr>
            <p:ph type="title"/>
          </p:nvPr>
        </p:nvSpPr>
        <p:spPr>
          <a:xfrm>
            <a:off x="3879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Simplified Git Workflow</a:t>
            </a:r>
            <a:endParaRPr/>
          </a:p>
        </p:txBody>
      </p:sp>
      <p:sp>
        <p:nvSpPr>
          <p:cNvPr id="197" name="Google Shape;197;p27"/>
          <p:cNvSpPr txBox="1"/>
          <p:nvPr>
            <p:ph idx="1" type="body"/>
          </p:nvPr>
        </p:nvSpPr>
        <p:spPr>
          <a:xfrm>
            <a:off x="311700" y="1152475"/>
            <a:ext cx="8344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Start a feature or bug fix on a new branch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Work done, lets push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Pushed the code? Let's open a merge/pull request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Team Lead reviews code                      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After review is ok, code is deployed to staging then live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How to name tags                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Merge the tag to master when all tests are fine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Need More detail ?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See Here</a:t>
            </a:r>
            <a:r>
              <a:rPr lang="en" sz="1800"/>
              <a:t> 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  <p:graphicFrame>
        <p:nvGraphicFramePr>
          <p:cNvPr id="198" name="Google Shape;198;p27"/>
          <p:cNvGraphicFramePr/>
          <p:nvPr/>
        </p:nvGraphicFramePr>
        <p:xfrm>
          <a:off x="5071481" y="45522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{A995B975-5AE6-410C-BE25-F48025D053EB}</a:tableStyleId>
              </a:tblPr>
              <a:tblGrid>
                <a:gridCol w="821450"/>
                <a:gridCol w="821450"/>
                <a:gridCol w="821450"/>
                <a:gridCol w="821450"/>
              </a:tblGrid>
              <a:tr h="24165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99" name="Google Shape;199;p27"/>
          <p:cNvCxnSpPr/>
          <p:nvPr/>
        </p:nvCxnSpPr>
        <p:spPr>
          <a:xfrm rot="10800000">
            <a:off x="509400" y="4552050"/>
            <a:ext cx="8147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00" name="Google Shape;200;p2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‹#›</a:t>
            </a:fld>
            <a:endParaRPr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-strategy-1080533_960_720.jpg" id="205" name="Google Shape;205;p28"/>
          <p:cNvPicPr preferRelativeResize="0"/>
          <p:nvPr/>
        </p:nvPicPr>
        <p:blipFill rotWithShape="1">
          <a:blip r:embed="rId3">
            <a:alphaModFix/>
          </a:blip>
          <a:srcRect b="8915" l="0" r="0" t="8915"/>
          <a:stretch/>
        </p:blipFill>
        <p:spPr>
          <a:xfrm>
            <a:off x="-30675" y="0"/>
            <a:ext cx="9174677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8"/>
          <p:cNvSpPr txBox="1"/>
          <p:nvPr>
            <p:ph type="title"/>
          </p:nvPr>
        </p:nvSpPr>
        <p:spPr>
          <a:xfrm>
            <a:off x="490250" y="849900"/>
            <a:ext cx="4439100" cy="185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3000"/>
              <a:t>Show some examples how exactly do  Simplified git workflow</a:t>
            </a:r>
            <a:endParaRPr/>
          </a:p>
        </p:txBody>
      </p:sp>
      <p:sp>
        <p:nvSpPr>
          <p:cNvPr id="207" name="Google Shape;207;p2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‹#›</a:t>
            </a:fld>
            <a:endParaRPr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riting-104091_960_720.jpg" id="212" name="Google Shape;212;p29"/>
          <p:cNvPicPr preferRelativeResize="0"/>
          <p:nvPr/>
        </p:nvPicPr>
        <p:blipFill rotWithShape="1">
          <a:blip r:embed="rId3">
            <a:alphaModFix/>
          </a:blip>
          <a:srcRect b="893" l="0" r="0" t="893"/>
          <a:stretch/>
        </p:blipFill>
        <p:spPr>
          <a:xfrm>
            <a:off x="-30675" y="0"/>
            <a:ext cx="9174677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‹#›</a:t>
            </a:fld>
            <a:endParaRPr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14" name="Google Shape;214;p29"/>
          <p:cNvSpPr/>
          <p:nvPr/>
        </p:nvSpPr>
        <p:spPr>
          <a:xfrm>
            <a:off x="589350" y="482200"/>
            <a:ext cx="2504700" cy="77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Workshop</a:t>
            </a:r>
            <a:endParaRPr/>
          </a:p>
        </p:txBody>
      </p:sp>
      <p:sp>
        <p:nvSpPr>
          <p:cNvPr id="215" name="Google Shape;215;p29"/>
          <p:cNvSpPr/>
          <p:nvPr/>
        </p:nvSpPr>
        <p:spPr>
          <a:xfrm>
            <a:off x="642950" y="1781475"/>
            <a:ext cx="7768800" cy="259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191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Oswald"/>
              <a:buChar char="●"/>
            </a:pPr>
            <a:r>
              <a:rPr b="1" lang="en" sz="24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Create your website which is hosted directly from your github </a:t>
            </a:r>
            <a:r>
              <a:rPr b="1" lang="en" sz="24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repository</a:t>
            </a:r>
            <a:r>
              <a:rPr b="1" lang="en" sz="24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.</a:t>
            </a:r>
            <a:endParaRPr b="1" sz="24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br>
              <a:rPr b="1" lang="en" sz="3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rPr b="1" lang="en" sz="24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Follow the instructions</a:t>
            </a:r>
            <a:r>
              <a:rPr b="1" lang="en" sz="3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endParaRPr b="1" sz="3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https://pages.github.com/</a:t>
            </a:r>
            <a:endParaRPr b="1" sz="18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0"/>
          <p:cNvSpPr txBox="1"/>
          <p:nvPr>
            <p:ph idx="1" type="body"/>
          </p:nvPr>
        </p:nvSpPr>
        <p:spPr>
          <a:xfrm>
            <a:off x="311700" y="2802750"/>
            <a:ext cx="6248700" cy="17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  <p:graphicFrame>
        <p:nvGraphicFramePr>
          <p:cNvPr id="221" name="Google Shape;221;p30"/>
          <p:cNvGraphicFramePr/>
          <p:nvPr/>
        </p:nvGraphicFramePr>
        <p:xfrm>
          <a:off x="5071481" y="45522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{A995B975-5AE6-410C-BE25-F48025D053EB}</a:tableStyleId>
              </a:tblPr>
              <a:tblGrid>
                <a:gridCol w="821450"/>
                <a:gridCol w="821450"/>
                <a:gridCol w="821450"/>
                <a:gridCol w="821450"/>
              </a:tblGrid>
              <a:tr h="24165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22" name="Google Shape;222;p30"/>
          <p:cNvCxnSpPr/>
          <p:nvPr/>
        </p:nvCxnSpPr>
        <p:spPr>
          <a:xfrm rot="10800000">
            <a:off x="509400" y="4552050"/>
            <a:ext cx="8147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23" name="Google Shape;223;p3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‹#›</a:t>
            </a:fld>
            <a:endParaRPr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24" name="Google Shape;224;p30"/>
          <p:cNvSpPr txBox="1"/>
          <p:nvPr/>
        </p:nvSpPr>
        <p:spPr>
          <a:xfrm>
            <a:off x="1147750" y="246400"/>
            <a:ext cx="7342500" cy="12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9E9E9E"/>
                </a:solidFill>
                <a:latin typeface="Average"/>
                <a:ea typeface="Average"/>
                <a:cs typeface="Average"/>
                <a:sym typeface="Average"/>
              </a:rPr>
              <a:t>                      </a:t>
            </a:r>
            <a:r>
              <a:rPr b="1" lang="en" sz="4800">
                <a:solidFill>
                  <a:srgbClr val="FCFCFA"/>
                </a:solidFill>
                <a:latin typeface="Average"/>
                <a:ea typeface="Average"/>
                <a:cs typeface="Average"/>
                <a:sym typeface="Average"/>
              </a:rPr>
              <a:t>Thank You</a:t>
            </a:r>
            <a:endParaRPr b="1" sz="4800">
              <a:solidFill>
                <a:srgbClr val="FCFCFA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25" name="Google Shape;225;p30"/>
          <p:cNvSpPr txBox="1"/>
          <p:nvPr/>
        </p:nvSpPr>
        <p:spPr>
          <a:xfrm>
            <a:off x="1556850" y="1943825"/>
            <a:ext cx="5682600" cy="10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rPr>
              <a:t>                          </a:t>
            </a:r>
            <a:r>
              <a:rPr lang="en" sz="3000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rPr>
              <a:t> </a:t>
            </a:r>
            <a:r>
              <a:rPr lang="en" sz="3000">
                <a:solidFill>
                  <a:srgbClr val="FF0000"/>
                </a:solidFill>
                <a:latin typeface="Average"/>
                <a:ea typeface="Average"/>
                <a:cs typeface="Average"/>
                <a:sym typeface="Average"/>
              </a:rPr>
              <a:t>Learn</a:t>
            </a:r>
            <a:r>
              <a:rPr lang="en" sz="3000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rPr>
              <a:t>-</a:t>
            </a:r>
            <a:r>
              <a:rPr lang="en" sz="3000">
                <a:solidFill>
                  <a:srgbClr val="00FF00"/>
                </a:solidFill>
                <a:latin typeface="Average"/>
                <a:ea typeface="Average"/>
                <a:cs typeface="Average"/>
                <a:sym typeface="Average"/>
              </a:rPr>
              <a:t>Develop</a:t>
            </a:r>
            <a:r>
              <a:rPr lang="en" sz="3000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rPr>
              <a:t>-</a:t>
            </a:r>
            <a:r>
              <a:rPr lang="en" sz="3000">
                <a:latin typeface="Average"/>
                <a:ea typeface="Average"/>
                <a:cs typeface="Average"/>
                <a:sym typeface="Average"/>
              </a:rPr>
              <a:t>Grow</a:t>
            </a:r>
            <a:endParaRPr sz="3000"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26" name="Google Shape;226;p30"/>
          <p:cNvSpPr txBox="1"/>
          <p:nvPr/>
        </p:nvSpPr>
        <p:spPr>
          <a:xfrm>
            <a:off x="1740175" y="3233925"/>
            <a:ext cx="6175200" cy="10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4F4F4"/>
                </a:solidFill>
                <a:latin typeface="Average"/>
                <a:ea typeface="Average"/>
                <a:cs typeface="Average"/>
                <a:sym typeface="Average"/>
              </a:rPr>
              <a:t>The Secret of getting ahead is getting started.</a:t>
            </a:r>
            <a:endParaRPr sz="2400">
              <a:solidFill>
                <a:srgbClr val="F4F4F4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232" name="Google Shape;232;p31"/>
          <p:cNvSpPr txBox="1"/>
          <p:nvPr>
            <p:ph idx="1" type="body"/>
          </p:nvPr>
        </p:nvSpPr>
        <p:spPr>
          <a:xfrm>
            <a:off x="311700" y="1152475"/>
            <a:ext cx="8344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https://www.git-tower.com/blog/8-reasons-for-switching-to-git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https://git-scm.com/book/en/v2/Getting-Started-Installing-Git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https://image.slidesharecdn.com/communitylive1-140216093234-phpapp02/95/community-live-1-gitflow-workflow-4-638.jpg?cb=1392543350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https://git-scm.com/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https://geshan.com.np/blog/2015/09/how-to-use-simplified-gitflow-branching-model-video/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https://www.notredameonline.com/media/12851404/the-five-sytles-of-conflict-resolution.jpg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https://pages.github.com/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  <p:graphicFrame>
        <p:nvGraphicFramePr>
          <p:cNvPr id="233" name="Google Shape;233;p31"/>
          <p:cNvGraphicFramePr/>
          <p:nvPr/>
        </p:nvGraphicFramePr>
        <p:xfrm>
          <a:off x="5071481" y="45522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{A995B975-5AE6-410C-BE25-F48025D053EB}</a:tableStyleId>
              </a:tblPr>
              <a:tblGrid>
                <a:gridCol w="821450"/>
                <a:gridCol w="821450"/>
                <a:gridCol w="821450"/>
                <a:gridCol w="821450"/>
              </a:tblGrid>
              <a:tr h="24165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34" name="Google Shape;234;p31"/>
          <p:cNvCxnSpPr/>
          <p:nvPr/>
        </p:nvCxnSpPr>
        <p:spPr>
          <a:xfrm rot="10800000">
            <a:off x="509400" y="4552050"/>
            <a:ext cx="8147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35" name="Google Shape;235;p3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‹#›</a:t>
            </a:fld>
            <a:endParaRPr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241" name="Google Shape;241;p32"/>
          <p:cNvSpPr txBox="1"/>
          <p:nvPr>
            <p:ph idx="1" type="body"/>
          </p:nvPr>
        </p:nvSpPr>
        <p:spPr>
          <a:xfrm>
            <a:off x="311700" y="1152475"/>
            <a:ext cx="8344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https://spin.atomicobject.com/2014/04/25/why-use-git/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  <p:graphicFrame>
        <p:nvGraphicFramePr>
          <p:cNvPr id="242" name="Google Shape;242;p32"/>
          <p:cNvGraphicFramePr/>
          <p:nvPr/>
        </p:nvGraphicFramePr>
        <p:xfrm>
          <a:off x="5071481" y="45522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{A995B975-5AE6-410C-BE25-F48025D053EB}</a:tableStyleId>
              </a:tblPr>
              <a:tblGrid>
                <a:gridCol w="821450"/>
                <a:gridCol w="821450"/>
                <a:gridCol w="821450"/>
                <a:gridCol w="821450"/>
              </a:tblGrid>
              <a:tr h="24165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43" name="Google Shape;243;p32"/>
          <p:cNvCxnSpPr/>
          <p:nvPr/>
        </p:nvCxnSpPr>
        <p:spPr>
          <a:xfrm rot="10800000">
            <a:off x="509400" y="4552050"/>
            <a:ext cx="8147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44" name="Google Shape;244;p3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‹#›</a:t>
            </a:fld>
            <a:endParaRPr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